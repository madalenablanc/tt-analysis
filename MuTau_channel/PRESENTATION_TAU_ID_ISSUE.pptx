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Investigation: Factor of 2 Discrepancy in MuTau Analysis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Simple Slide Presentation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We Observed</a:t>
            </a:r>
          </a:p>
          <a:p>
            <a:pPr lvl="0"/>
            <a:r>
              <a:rPr b="1"/>
              <a:t>Data events: ~1,700</a:t>
            </a:r>
            <a:r>
              <a:rPr/>
              <a:t> (expected ~3,400)</a:t>
            </a:r>
          </a:p>
          <a:p>
            <a:pPr lvl="0"/>
            <a:r>
              <a:rPr b="1"/>
              <a:t>QCD events: ~234</a:t>
            </a:r>
            <a:r>
              <a:rPr/>
              <a:t> (expected ~468)</a:t>
            </a:r>
          </a:p>
          <a:p>
            <a:pPr lvl="0"/>
            <a:r>
              <a:rPr/>
              <a:t>Both at approximately </a:t>
            </a:r>
            <a:r>
              <a:rPr b="1"/>
              <a:t>half</a:t>
            </a:r>
            <a:r>
              <a:rPr/>
              <a:t> their expected values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Temporary Solution</a:t>
            </a:r>
          </a:p>
          <a:p>
            <a:pPr lvl="0" indent="0">
              <a:buNone/>
            </a:pPr>
            <a:r>
              <a:rPr>
                <a:latin typeface="Courier"/>
              </a:rPr>
              <a:t>weight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# Compensating for unknown factor</a:t>
            </a:r>
            <a:br/>
            <a:r>
              <a:rPr>
                <a:latin typeface="Courier"/>
              </a:rPr>
              <a:t>w_qcd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Question</a:t>
            </a:r>
          </a:p>
          <a:p>
            <a:pPr lvl="0" indent="0" marL="0">
              <a:buNone/>
            </a:pPr>
            <a:r>
              <a:rPr b="1"/>
              <a:t>Why are both Data and QCD at ~50% of expected?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The Suspected Cause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Processing Method Changed</a:t>
            </a:r>
          </a:p>
          <a:p>
            <a:pPr lvl="0" indent="0" marL="0">
              <a:buNone/>
            </a:pPr>
            <a:r>
              <a:rPr b="1"/>
              <a:t>Old Method (DY/ttjets):</a:t>
            </a:r>
          </a:p>
          <a:p>
            <a:pPr lvl="0" indent="0">
              <a:buNone/>
            </a:pPr>
            <a:r>
              <a:rPr>
                <a:latin typeface="Courier"/>
              </a:rPr>
              <a:t>NanoAOD → Cuts → Merge → Add artificial pileup protons
                         (merge_pp_mutau.py, weight=0.13)</a:t>
            </a:r>
          </a:p>
          <a:p>
            <a:pPr lvl="0" indent="0" marL="0">
              <a:buNone/>
            </a:pPr>
            <a:r>
              <a:rPr/>
              <a:t>✓ 100% of events get artificial protons</a:t>
            </a:r>
          </a:p>
          <a:p>
            <a:pPr lvl="0" indent="0" marL="0">
              <a:buNone/>
            </a:pPr>
            <a:r>
              <a:rPr b="1"/>
              <a:t>New Method (Data/QCD):</a:t>
            </a:r>
          </a:p>
          <a:p>
            <a:pPr lvl="0" indent="0">
              <a:buNone/>
            </a:pPr>
            <a:r>
              <a:rPr>
                <a:latin typeface="Courier"/>
              </a:rPr>
              <a:t>NanoAOD → Fase0 (save real proton vars) → Fase1 (cuts + proton filter) → Merge</a:t>
            </a:r>
          </a:p>
          <a:p>
            <a:pPr lvl="0" indent="0" marL="0">
              <a:buNone/>
            </a:pPr>
            <a:r>
              <a:rPr/>
              <a:t>✓ Only ~16.9% of events have real protons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Expected Impact</a:t>
            </a:r>
          </a:p>
          <a:p>
            <a:pPr lvl="0" indent="0" marL="0">
              <a:buNone/>
            </a:pPr>
            <a:r>
              <a:rPr/>
              <a:t>Switching from 100% → 16.9% should give </a:t>
            </a:r>
            <a:r>
              <a:rPr b="1"/>
              <a:t>6x reduction</a:t>
            </a:r>
            <a:r>
              <a:rPr/>
              <a:t>, not 2x!</a:t>
            </a:r>
          </a:p>
          <a:p>
            <a:pPr lvl="0" indent="0" marL="0">
              <a:buNone/>
            </a:pPr>
            <a:r>
              <a:rPr b="1"/>
              <a:t>Something else was wrong…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The Investigation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Diagnostic: Apply Cuts Sequentially</a:t>
            </a:r>
          </a:p>
          <a:p>
            <a:pPr lvl="0" indent="0" marL="0">
              <a:buNone/>
            </a:pPr>
            <a:r>
              <a:rPr/>
              <a:t>Ran diagnostic on one fase0 file (1M events):</a:t>
            </a:r>
          </a:p>
          <a:p>
            <a:pPr lvl="0" indent="0">
              <a:buNone/>
            </a:pPr>
            <a:r>
              <a:rPr>
                <a:latin typeface="Courier"/>
              </a:rPr>
              <a:t>Starting events:          1,023,514
After Lumi + HLT:         1,023,514 ✓
Has protons:                172,895 (16.9%) ✓
+ Muon ID:                  138,903 (80% pass) ✓
+ TAU ID:                        65 (99.95% REJECTED!) ✗
+ pT cuts:                        1
+ Eta cuts:                       1
Final: 1 Data event, 0 QCD events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Smoking Gun</a:t>
            </a:r>
          </a:p>
          <a:p>
            <a:pPr lvl="0" indent="0" marL="0">
              <a:buNone/>
            </a:pPr>
            <a:r>
              <a:rPr b="1"/>
              <a:t>Tau ID cuts rejected 99.95% of events!</a:t>
            </a:r>
          </a:p>
          <a:p>
            <a:pPr lvl="0" indent="0" marL="0">
              <a:buNone/>
            </a:pPr>
            <a:r>
              <a:rPr/>
              <a:t>This is NOT normal.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Root Cause #1 - Fase0 Has No Cuts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 fase0_qcd_data.py (lines 177-182):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ALL QUALITY CUTS ARE COMMENTED OUT: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  .Filter("Muon_mvaId[0] &gt;= 3", "Muon ID (&gt;= Medium)")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  .Filter("Tau_idDeepTau2017v2p1VSjet[0] &gt;= 63", "Tau VSjet")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  .Filter("Tau_idDeepTau2017v2p1VSe[0]   &gt;= 7",  "Tau VSe")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  .Filter("Tau_idDeepTau2017v2p1VSmu[0]  &gt;= 1",  "Tau VSmu")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  .Filter("Muon_pt[0] &gt; 35. &amp;&amp; Tau_pt[0] &gt; 100.", "pT cuts")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Result</a:t>
            </a:r>
          </a:p>
          <a:p>
            <a:pPr lvl="0" indent="0" marL="0">
              <a:buNone/>
            </a:pPr>
            <a:r>
              <a:rPr/>
              <a:t>Fase0 saves </a:t>
            </a:r>
            <a:r>
              <a:rPr b="1"/>
              <a:t>taus of ANY quality</a:t>
            </a:r>
            <a:r>
              <a:rPr/>
              <a:t> (including tau_id=0)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Then Fase1 Applies Strict Cuts:</a:t>
            </a:r>
          </a:p>
          <a:p>
            <a:pPr lvl="0" indent="0">
              <a:buNone/>
            </a:pPr>
            <a:r>
              <a:rPr>
                <a:latin typeface="Courier"/>
              </a:rPr>
              <a:t>.Filter(</a:t>
            </a:r>
            <a:r>
              <a:rPr>
                <a:solidFill>
                  <a:srgbClr val="4070A0"/>
                </a:solidFill>
                <a:latin typeface="Courier"/>
              </a:rPr>
              <a:t>"tau_id1 &gt; 63"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"Tau VSjet"</a:t>
            </a:r>
            <a:r>
              <a:rPr>
                <a:latin typeface="Courier"/>
              </a:rPr>
              <a:t>)  </a:t>
            </a:r>
            <a:r>
              <a:rPr i="1">
                <a:solidFill>
                  <a:srgbClr val="60A0B0"/>
                </a:solidFill>
                <a:latin typeface="Courier"/>
              </a:rPr>
              <a:t># Requires VTight</a:t>
            </a:r>
            <a:br/>
            <a:r>
              <a:rPr>
                <a:latin typeface="Courier"/>
              </a:rPr>
              <a:t>.Filter(</a:t>
            </a:r>
            <a:r>
              <a:rPr>
                <a:solidFill>
                  <a:srgbClr val="4070A0"/>
                </a:solidFill>
                <a:latin typeface="Courier"/>
              </a:rPr>
              <a:t>"tau_id2 &gt; 7"</a:t>
            </a:r>
            <a:r>
              <a:rPr>
                <a:latin typeface="Courier"/>
              </a:rPr>
              <a:t>,  </a:t>
            </a:r>
            <a:r>
              <a:rPr>
                <a:solidFill>
                  <a:srgbClr val="4070A0"/>
                </a:solidFill>
                <a:latin typeface="Courier"/>
              </a:rPr>
              <a:t>"Tau VSe"</a:t>
            </a:r>
            <a:r>
              <a:rPr>
                <a:latin typeface="Courier"/>
              </a:rPr>
              <a:t>)    </a:t>
            </a:r>
            <a:r>
              <a:rPr i="1">
                <a:solidFill>
                  <a:srgbClr val="60A0B0"/>
                </a:solidFill>
                <a:latin typeface="Courier"/>
              </a:rPr>
              <a:t># Requires Loose</a:t>
            </a:r>
            <a:br/>
            <a:r>
              <a:rPr>
                <a:latin typeface="Courier"/>
              </a:rPr>
              <a:t>.Filter(</a:t>
            </a:r>
            <a:r>
              <a:rPr>
                <a:solidFill>
                  <a:srgbClr val="4070A0"/>
                </a:solidFill>
                <a:latin typeface="Courier"/>
              </a:rPr>
              <a:t>"tau_id3 &gt; 1"</a:t>
            </a:r>
            <a:r>
              <a:rPr>
                <a:latin typeface="Courier"/>
              </a:rPr>
              <a:t>,  </a:t>
            </a:r>
            <a:r>
              <a:rPr>
                <a:solidFill>
                  <a:srgbClr val="4070A0"/>
                </a:solidFill>
                <a:latin typeface="Courier"/>
              </a:rPr>
              <a:t>"Tau VSmu"</a:t>
            </a:r>
            <a:r>
              <a:rPr>
                <a:latin typeface="Courier"/>
              </a:rPr>
              <a:t>)   </a:t>
            </a:r>
            <a:r>
              <a:rPr i="1">
                <a:solidFill>
                  <a:srgbClr val="60A0B0"/>
                </a:solidFill>
                <a:latin typeface="Courier"/>
              </a:rPr>
              <a:t># Requires Loose</a:t>
            </a:r>
          </a:p>
          <a:p>
            <a:pPr lvl="0" indent="0" marL="0">
              <a:buNone/>
            </a:pPr>
            <a:r>
              <a:rPr b="1"/>
              <a:t>Almost everything is rejected!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5: Root Cause #2 - VSmu Mystery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Tau ID Distribution Analysis</a:t>
            </a:r>
          </a:p>
          <a:p>
            <a:pPr lvl="0" indent="0" marL="0">
              <a:buNone/>
            </a:pPr>
            <a:r>
              <a:rPr/>
              <a:t>Ran diagnostic on tau ID values in fase0: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Discriminator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Events Passing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Acceptance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tau_id1 (VSjet)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 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852,802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83.3%</a:t>
                      </a:r>
                      <a:r>
                        <a:rPr/>
                        <a:t> 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tau_id2 (VSe)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 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870,796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85.1%</a:t>
                      </a:r>
                      <a:r>
                        <a:rPr/>
                        <a:t> 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tau_id3 (VSmu)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22,479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2.2%</a:t>
                      </a:r>
                      <a:r>
                        <a:rPr/>
                        <a:t> 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Combined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three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1,197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0.12%</a:t>
                      </a:r>
                      <a:r>
                        <a:rPr/>
                        <a:t> ✗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Bottleneck</a:t>
            </a:r>
          </a:p>
          <a:p>
            <a:pPr lvl="0" indent="0" marL="0">
              <a:buNone/>
            </a:pPr>
            <a:r>
              <a:rPr b="1"/>
              <a:t>Only 3.09% of taus have ANY VSmu score &gt; 0!</a:t>
            </a:r>
          </a:p>
          <a:p>
            <a:pPr lvl="0" indent="0" marL="0">
              <a:buNone/>
            </a:pPr>
            <a:r>
              <a:rPr/>
              <a:t>This is extremely suspicious.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Understanding VSmu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Tau VSmu?</a:t>
            </a:r>
          </a:p>
          <a:p>
            <a:pPr lvl="0" indent="0" marL="0">
              <a:buNone/>
            </a:pPr>
            <a:r>
              <a:rPr b="1"/>
              <a:t>DeepTau Discriminators:</a:t>
            </a:r>
            <a:r>
              <a:rPr/>
              <a:t> - </a:t>
            </a:r>
            <a:r>
              <a:rPr b="1"/>
              <a:t>VSjet:</a:t>
            </a:r>
            <a:r>
              <a:rPr/>
              <a:t> Tau vs QCD jets (most important) - </a:t>
            </a:r>
            <a:r>
              <a:rPr b="1"/>
              <a:t>VSe:</a:t>
            </a:r>
            <a:r>
              <a:rPr/>
              <a:t> Tau vs electrons - </a:t>
            </a:r>
            <a:r>
              <a:rPr b="1"/>
              <a:t>VSmu:</a:t>
            </a:r>
            <a:r>
              <a:rPr/>
              <a:t> Tau vs muons ← Problem here!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Why VSmu is Critical in MuTau</a:t>
            </a:r>
          </a:p>
          <a:p>
            <a:pPr lvl="0" indent="0" marL="0">
              <a:buNone/>
            </a:pPr>
            <a:r>
              <a:rPr/>
              <a:t>In MuTau channel: - One real </a:t>
            </a:r>
            <a:r>
              <a:rPr b="1"/>
              <a:t>muon</a:t>
            </a:r>
            <a:r>
              <a:rPr/>
              <a:t> (from W/Z decay) - One </a:t>
            </a:r>
            <a:r>
              <a:rPr b="1"/>
              <a:t>tau</a:t>
            </a:r>
            <a:r>
              <a:rPr/>
              <a:t> (signal)</a:t>
            </a:r>
          </a:p>
          <a:p>
            <a:pPr lvl="0" indent="0" marL="0">
              <a:buNone/>
            </a:pPr>
            <a:r>
              <a:rPr/>
              <a:t>VSmu discriminator: </a:t>
            </a:r>
            <a:r>
              <a:rPr b="1"/>
              <a:t>“Is this tau actually a muon?”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Mystery</a:t>
            </a:r>
          </a:p>
          <a:p>
            <a:pPr lvl="0" indent="0" marL="0">
              <a:buNone/>
            </a:pPr>
            <a:r>
              <a:rPr/>
              <a:t>97% of taus have </a:t>
            </a:r>
            <a:r>
              <a:rPr b="1"/>
              <a:t>NO VSmu discrimination</a:t>
            </a:r>
            <a:r>
              <a:rPr/>
              <a:t> (value = 0)</a:t>
            </a:r>
          </a:p>
          <a:p>
            <a:pPr lvl="0" indent="0" marL="0">
              <a:buNone/>
            </a:pPr>
            <a:r>
              <a:rPr/>
              <a:t>Possible causes: 1. VSmu branch not filled in NanoAOD 2. VSmu working point too strict 3. Taus genuinely look like muons (unlikely - we have real taus)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The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Tau Quality Distribution</a:t>
            </a:r>
          </a:p>
          <a:p>
            <a:pPr lvl="0" indent="0">
              <a:buNone/>
            </a:pPr>
            <a:r>
              <a:rPr>
                <a:latin typeface="Courier"/>
              </a:rPr>
              <a:t>tau_id1 = 255 (maximum quality): 836,368 events (81.7%)</a:t>
            </a:r>
          </a:p>
          <a:p>
            <a:pPr lvl="0" indent="0" marL="0">
              <a:buNone/>
            </a:pPr>
            <a:r>
              <a:rPr b="1"/>
              <a:t>Most taus ARE high quality for VSjet!</a:t>
            </a:r>
          </a:p>
          <a:p>
            <a:pPr lvl="0" indent="0" marL="0">
              <a:buNone/>
            </a:pPr>
            <a:r>
              <a:rPr/>
              <a:t>But:</a:t>
            </a:r>
          </a:p>
          <a:p>
            <a:pPr lvl="0" indent="0">
              <a:buNone/>
            </a:pPr>
            <a:r>
              <a:rPr>
                <a:latin typeface="Courier"/>
              </a:rPr>
              <a:t>tau_id3 (VSmu):
  &gt; 0: 31,672 (3.09%)
  &gt; 1: 22,479 (2.20%)
  &gt; 2: 22,479 (2.20%)</a:t>
            </a:r>
          </a:p>
          <a:p>
            <a:pPr lvl="0" indent="0" marL="0">
              <a:buNone/>
            </a:pPr>
            <a:r>
              <a:rPr b="1"/>
              <a:t>But fail VSmu discrimination.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Conclusion</a:t>
            </a:r>
          </a:p>
          <a:p>
            <a:pPr lvl="0" indent="0" marL="0">
              <a:buNone/>
            </a:pPr>
            <a:r>
              <a:rPr/>
              <a:t>The tau quality is good (81.7% have perfect VSjet scores), but the </a:t>
            </a:r>
            <a:r>
              <a:rPr b="1"/>
              <a:t>VSmu branch appears to be not properly filled</a:t>
            </a:r>
            <a:r>
              <a:rPr/>
              <a:t> or the working point is inappropriate for MuTau channel.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8: Why This Explains Everything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Event Loss Chain</a:t>
            </a:r>
          </a:p>
          <a:p>
            <a:pPr lvl="0" indent="0">
              <a:buNone/>
            </a:pPr>
            <a:r>
              <a:rPr>
                <a:latin typeface="Courier"/>
              </a:rPr>
              <a:t>Raw NanoAOD:                    ~Millions
    ↓ Lumi + HLT (fase0)
Fase0 output:                   1,023,514 per file
    ↓ Proton requirement (16.9%)
With protons:                     172,895
    ↓ Muon ID (80%)
After mu_id:                      138,903
    ↓ TAU ID (0.05%!) ← THE KILLER
After tau ID:                          65
    ↓ pT + geometry
Final per file:                         1
× 393 files:                      ~400 total events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Compare to Expected</a:t>
            </a:r>
          </a:p>
          <a:p>
            <a:pPr lvl="0" indent="0" marL="0">
              <a:buNone/>
            </a:pPr>
            <a:r>
              <a:rPr/>
              <a:t>If fase0 had proper quality cuts, we’d expect: - </a:t>
            </a:r>
            <a:r>
              <a:rPr b="1"/>
              <a:t>Thousands</a:t>
            </a:r>
            <a:r>
              <a:rPr/>
              <a:t> of Data events - </a:t>
            </a:r>
            <a:r>
              <a:rPr b="1"/>
              <a:t>Thousands</a:t>
            </a:r>
            <a:r>
              <a:rPr/>
              <a:t> of QCD events</a:t>
            </a:r>
          </a:p>
          <a:p>
            <a:pPr lvl="0" indent="0" marL="0">
              <a:buNone/>
            </a:pPr>
            <a:r>
              <a:rPr/>
              <a:t>Instead we get: - 1,708 Data - 234 QCD</a:t>
            </a:r>
          </a:p>
          <a:p>
            <a:pPr lvl="0" indent="0" marL="0">
              <a:buNone/>
            </a:pPr>
            <a:r>
              <a:rPr/>
              <a:t>Still very low, confirming the tau ID issue.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9: Why weight=2.0 Was Wrong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weight=2.0 Was Doing</a:t>
            </a:r>
          </a:p>
          <a:p>
            <a:pPr lvl="0" indent="0">
              <a:buNone/>
            </a:pPr>
            <a:r>
              <a:rPr>
                <a:latin typeface="Courier"/>
              </a:rPr>
              <a:t>weight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# Artificially doubling event weights</a:t>
            </a:r>
          </a:p>
          <a:p>
            <a:pPr lvl="0"/>
            <a:r>
              <a:rPr/>
              <a:t>Compensated for “factor of 2” discrepancy</a:t>
            </a:r>
          </a:p>
          <a:p>
            <a:pPr lvl="0"/>
            <a:r>
              <a:rPr/>
              <a:t>Made histograms look better</a:t>
            </a:r>
          </a:p>
          <a:p>
            <a:pPr lvl="0"/>
            <a:r>
              <a:rPr b="1"/>
              <a:t>But didn’t fix the underlying problem!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Real Issue</a:t>
            </a:r>
          </a:p>
          <a:p>
            <a:pPr lvl="0" indent="0" marL="0">
              <a:buNone/>
            </a:pPr>
            <a:r>
              <a:rPr/>
              <a:t>We’re not losing 50% of events…</a:t>
            </a:r>
          </a:p>
          <a:p>
            <a:pPr lvl="0" indent="0" marL="0">
              <a:buNone/>
            </a:pPr>
            <a:r>
              <a:rPr b="1"/>
              <a:t>We’re losing 99.95% of events to tau ID cuts!</a:t>
            </a:r>
          </a:p>
          <a:p>
            <a:pPr lvl="0" indent="0" marL="0">
              <a:buNone/>
            </a:pPr>
            <a:r>
              <a:rPr/>
              <a:t>The factor of 2 was a </a:t>
            </a:r>
            <a:r>
              <a:rPr b="1"/>
              <a:t>red herring</a:t>
            </a:r>
            <a:r>
              <a:rPr/>
              <a:t> - a symptom of comparing to an incorrect reference, not the root cause.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10: The Fix - Option 1 (Recommended)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Uncomment Cuts in Fase0</a:t>
            </a:r>
          </a:p>
          <a:p>
            <a:pPr lvl="0" indent="0" marL="0">
              <a:buNone/>
            </a:pPr>
            <a:r>
              <a:rPr/>
              <a:t>In </a:t>
            </a:r>
            <a:r>
              <a:rPr>
                <a:latin typeface="Courier"/>
              </a:rPr>
              <a:t>fase0_qcd_data.py</a:t>
            </a:r>
            <a:r>
              <a:rPr/>
              <a:t>, uncomment lines 177-182: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Change from: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  .Filter("Tau_idDeepTau2017v2p1VSjet[0] &gt;= 63", "Tau VSjet")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  .Filter("Tau_idDeepTau2017v2p1VSe[0]   &gt;= 7",  "Tau VSe")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  .Filter("Tau_idDeepTau2017v2p1VSmu[0]  &gt;= 1",  "Tau VSmu")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To:</a:t>
            </a:r>
            <a:br/>
            <a:r>
              <a:rPr>
                <a:latin typeface="Courier"/>
              </a:rPr>
              <a:t>.Filter(</a:t>
            </a:r>
            <a:r>
              <a:rPr>
                <a:solidFill>
                  <a:srgbClr val="4070A0"/>
                </a:solidFill>
                <a:latin typeface="Courier"/>
              </a:rPr>
              <a:t>"Tau_idDeepTau2017v2p1VSjet[0] &gt;= 63"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"Tau VSjet"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.Filter(</a:t>
            </a:r>
            <a:r>
              <a:rPr>
                <a:solidFill>
                  <a:srgbClr val="4070A0"/>
                </a:solidFill>
                <a:latin typeface="Courier"/>
              </a:rPr>
              <a:t>"Tau_idDeepTau2017v2p1VSe[0]   &gt;= 7"</a:t>
            </a:r>
            <a:r>
              <a:rPr>
                <a:latin typeface="Courier"/>
              </a:rPr>
              <a:t>,  </a:t>
            </a:r>
            <a:r>
              <a:rPr>
                <a:solidFill>
                  <a:srgbClr val="4070A0"/>
                </a:solidFill>
                <a:latin typeface="Courier"/>
              </a:rPr>
              <a:t>"Tau VSe"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.Filter(</a:t>
            </a:r>
            <a:r>
              <a:rPr>
                <a:solidFill>
                  <a:srgbClr val="4070A0"/>
                </a:solidFill>
                <a:latin typeface="Courier"/>
              </a:rPr>
              <a:t>"Tau_idDeepTau2017v2p1VSmu[0]  &gt;= 1"</a:t>
            </a:r>
            <a:r>
              <a:rPr>
                <a:latin typeface="Courier"/>
              </a:rPr>
              <a:t>,  </a:t>
            </a:r>
            <a:r>
              <a:rPr>
                <a:solidFill>
                  <a:srgbClr val="4070A0"/>
                </a:solidFill>
                <a:latin typeface="Courier"/>
              </a:rPr>
              <a:t>"Tau VSmu"</a:t>
            </a:r>
            <a:r>
              <a:rPr>
                <a:latin typeface="Courier"/>
              </a:rPr>
              <a:t>)  </a:t>
            </a:r>
            <a:r>
              <a:rPr i="1">
                <a:solidFill>
                  <a:srgbClr val="60A0B0"/>
                </a:solidFill>
                <a:latin typeface="Courier"/>
              </a:rPr>
              <a:t># Or &gt; 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Then:</a:t>
            </a:r>
          </a:p>
          <a:p>
            <a:pPr lvl="0" indent="-342900" marL="342900">
              <a:buAutoNum type="arabicPeriod"/>
            </a:pPr>
            <a:r>
              <a:rPr b="1"/>
              <a:t>Reprocess from fase0</a:t>
            </a:r>
            <a:r>
              <a:rPr/>
              <a:t> (all 393 files)</a:t>
            </a:r>
          </a:p>
          <a:p>
            <a:pPr lvl="0" indent="-342900" marL="342900">
              <a:buAutoNum type="arabicPeriod"/>
            </a:pPr>
            <a:r>
              <a:rPr/>
              <a:t>Run fase1 on new fase0 output</a:t>
            </a:r>
          </a:p>
          <a:p>
            <a:pPr lvl="0" indent="-342900" marL="342900">
              <a:buAutoNum type="arabicPeriod"/>
            </a:pPr>
            <a:r>
              <a:rPr/>
              <a:t>Merge</a:t>
            </a:r>
          </a:p>
          <a:p>
            <a:pPr lvl="0" indent="-342900" marL="342900">
              <a:buAutoNum type="arabicPeriod"/>
            </a:pPr>
            <a:r>
              <a:rPr b="1"/>
              <a:t>Remove weight=2.0</a:t>
            </a:r>
            <a:r>
              <a:rPr/>
              <a:t> from plot_m.py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Expected Result:</a:t>
            </a:r>
          </a:p>
          <a:p>
            <a:pPr lvl="0" indent="0" marL="0">
              <a:buNone/>
            </a:pPr>
            <a:r>
              <a:rPr b="1"/>
              <a:t>Much higher event counts</a:t>
            </a:r>
            <a:r>
              <a:rPr/>
              <a:t> without artificial weights!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11: The Fix - Option 2 (Quick Test)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If You Can’t Reprocess Yet</a:t>
            </a:r>
          </a:p>
          <a:p>
            <a:pPr lvl="0" indent="0" marL="0">
              <a:buNone/>
            </a:pPr>
            <a:r>
              <a:rPr/>
              <a:t>Temporarily relax cuts in </a:t>
            </a:r>
            <a:r>
              <a:rPr>
                <a:latin typeface="Courier"/>
              </a:rPr>
              <a:t>fase1_data.py</a:t>
            </a:r>
            <a:r>
              <a:rPr/>
              <a:t> and </a:t>
            </a:r>
            <a:r>
              <a:rPr>
                <a:latin typeface="Courier"/>
              </a:rPr>
              <a:t>fase1_qcd.py</a:t>
            </a:r>
            <a:r>
              <a:rPr/>
              <a:t>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Change from:</a:t>
            </a:r>
            <a:br/>
            <a:r>
              <a:rPr>
                <a:latin typeface="Courier"/>
              </a:rPr>
              <a:t>.Filter(</a:t>
            </a:r>
            <a:r>
              <a:rPr>
                <a:solidFill>
                  <a:srgbClr val="4070A0"/>
                </a:solidFill>
                <a:latin typeface="Courier"/>
              </a:rPr>
              <a:t>"tau_id3 &gt; 1"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"Tau VSmu"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To:</a:t>
            </a:r>
            <a:br/>
            <a:r>
              <a:rPr>
                <a:latin typeface="Courier"/>
              </a:rPr>
              <a:t>.Filter(</a:t>
            </a:r>
            <a:r>
              <a:rPr>
                <a:solidFill>
                  <a:srgbClr val="4070A0"/>
                </a:solidFill>
                <a:latin typeface="Courier"/>
              </a:rPr>
              <a:t>"tau_id3 &gt; 0"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"Tau VSmu (VLoose)"</a:t>
            </a:r>
            <a:r>
              <a:rPr>
                <a:latin typeface="Courier"/>
              </a:rPr>
              <a:t>)  </a:t>
            </a:r>
            <a:r>
              <a:rPr i="1">
                <a:solidFill>
                  <a:srgbClr val="60A0B0"/>
                </a:solidFill>
                <a:latin typeface="Courier"/>
              </a:rPr>
              <a:t># Or comment out entirely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This Will:</a:t>
            </a:r>
          </a:p>
          <a:p>
            <a:pPr lvl="0"/>
            <a:r>
              <a:rPr/>
              <a:t>✓ Give you more events immediately</a:t>
            </a:r>
          </a:p>
          <a:p>
            <a:pPr lvl="0"/>
            <a:r>
              <a:rPr/>
              <a:t>✓ Test if VSmu is the problem</a:t>
            </a:r>
          </a:p>
          <a:p>
            <a:pPr lvl="0"/>
            <a:r>
              <a:rPr/>
              <a:t>✗ Include lower-quality taus</a:t>
            </a:r>
          </a:p>
          <a:p>
            <a:pPr lvl="0"/>
            <a:r>
              <a:rPr/>
              <a:t>✗ Not a proper physics solution</a:t>
            </a:r>
          </a:p>
          <a:p>
            <a:pPr lvl="0" indent="0" marL="0">
              <a:buNone/>
            </a:pPr>
            <a:r>
              <a:rPr b="1"/>
              <a:t>Use only for testing!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12: Before You Reprocess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Critical Checks Needed</a:t>
            </a:r>
          </a:p>
          <a:p>
            <a:pPr lvl="0" indent="-342900" marL="342900">
              <a:buAutoNum type="arabicPeriod"/>
            </a:pPr>
            <a:r>
              <a:rPr b="1"/>
              <a:t>Verify VSmu branch in NanoAOD:</a:t>
            </a:r>
          </a:p>
          <a:p>
            <a:pPr lvl="1" indent="0">
              <a:buNone/>
            </a:pPr>
            <a:r>
              <a:rPr>
                <a:latin typeface="Courier"/>
              </a:rPr>
              <a:t>root </a:t>
            </a:r>
            <a:r>
              <a:rPr>
                <a:solidFill>
                  <a:srgbClr val="7D9029"/>
                </a:solidFill>
                <a:latin typeface="Courier"/>
              </a:rPr>
              <a:t>-l</a:t>
            </a:r>
            <a:r>
              <a:rPr>
                <a:latin typeface="Courier"/>
              </a:rPr>
              <a:t> root://cms-xrd-global.cern.ch///store/</a:t>
            </a:r>
            <a:r>
              <a:rPr>
                <a:solidFill>
                  <a:srgbClr val="BC7A00"/>
                </a:solidFill>
                <a:latin typeface="Courier"/>
              </a:rPr>
              <a:t>[</a:t>
            </a:r>
            <a:r>
              <a:rPr>
                <a:solidFill>
                  <a:srgbClr val="BB6688"/>
                </a:solidFill>
                <a:latin typeface="Courier"/>
              </a:rPr>
              <a:t>your_file</a:t>
            </a:r>
            <a:r>
              <a:rPr>
                <a:solidFill>
                  <a:srgbClr val="BC7A00"/>
                </a:solidFill>
                <a:latin typeface="Courier"/>
              </a:rPr>
              <a:t>]</a:t>
            </a:r>
            <a:r>
              <a:rPr>
                <a:latin typeface="Courier"/>
              </a:rPr>
              <a:t>.root</a:t>
            </a:r>
            <a:br/>
            <a:r>
              <a:rPr>
                <a:latin typeface="Courier"/>
              </a:rPr>
              <a:t>Events-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Scan</a:t>
            </a:r>
            <a:r>
              <a:rPr b="1">
                <a:solidFill>
                  <a:srgbClr val="FF0000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"Tau_idDeepTau2017v2p1VSmu"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r>
              <a:rPr>
                <a:latin typeface="Courier"/>
              </a:rPr>
              <a:t>, 100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</a:p>
          <a:p>
            <a:pPr lvl="1" indent="0" marL="342900">
              <a:buNone/>
            </a:pPr>
            <a:r>
              <a:rPr/>
              <a:t>Check if values are mostly 0 or properly distributed.</a:t>
            </a:r>
          </a:p>
          <a:p>
            <a:pPr lvl="0" indent="-342900" marL="342900">
              <a:buAutoNum type="arabicPeriod"/>
            </a:pPr>
            <a:r>
              <a:rPr b="1"/>
              <a:t>Check with your advisor:</a:t>
            </a:r>
          </a:p>
          <a:p>
            <a:pPr lvl="1"/>
            <a:r>
              <a:rPr/>
              <a:t>What tau ID cuts did old processing use?</a:t>
            </a:r>
          </a:p>
          <a:p>
            <a:pPr lvl="1"/>
            <a:r>
              <a:rPr/>
              <a:t>Is VSmu &gt; 1 correct for MuTau channel?</a:t>
            </a:r>
          </a:p>
          <a:p>
            <a:pPr lvl="1"/>
            <a:r>
              <a:rPr/>
              <a:t>Why were fase0 cuts commented out?</a:t>
            </a:r>
          </a:p>
          <a:p>
            <a:pPr lvl="0" indent="-342900" marL="342900">
              <a:buAutoNum type="arabicPeriod"/>
            </a:pPr>
            <a:r>
              <a:rPr b="1"/>
              <a:t>Compare with TauTau channel:</a:t>
            </a:r>
          </a:p>
          <a:p>
            <a:pPr lvl="1"/>
            <a:r>
              <a:rPr/>
              <a:t>What VSmu working point do they use?</a:t>
            </a:r>
          </a:p>
          <a:p>
            <a:pPr lvl="1"/>
            <a:r>
              <a:rPr/>
              <a:t>Do they apply cuts in fase0 or later?</a:t>
            </a:r>
          </a:p>
          <a:p>
            <a:pPr lvl="0" indent="-342900" marL="342900">
              <a:buAutoNum type="arabicPeriod"/>
            </a:pPr>
            <a:r>
              <a:rPr b="1"/>
              <a:t>Check TauPOG recommendations:</a:t>
            </a:r>
          </a:p>
          <a:p>
            <a:pPr lvl="1"/>
            <a:r>
              <a:rPr/>
              <a:t>2018 UL MuTau channel tau ID working points</a:t>
            </a:r>
          </a:p>
          <a:p>
            <a:pPr lvl="1"/>
            <a:r>
              <a:rPr/>
              <a:t>Official recommendations for VSmu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13: Comparison with Old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Old Processing (DY/ttjets style)</a:t>
            </a:r>
          </a:p>
          <a:p>
            <a:pPr lvl="0" indent="0">
              <a:buNone/>
            </a:pPr>
            <a:r>
              <a:rPr>
                <a:latin typeface="Courier"/>
              </a:rPr>
              <a:t>NanoAOD → Fase1 (all quality cuts applied) → Merge → Add pileup protons
          ↑
          Probably had LOOSER tau ID cuts,
          or NO VSmu cut at all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New Processing (Current Data/QCD)</a:t>
            </a:r>
          </a:p>
          <a:p>
            <a:pPr lvl="0" indent="0">
              <a:buNone/>
            </a:pPr>
            <a:r>
              <a:rPr>
                <a:latin typeface="Courier"/>
              </a:rPr>
              <a:t>NanoAOD → Fase0 (NO quality cuts!) → Fase1 (STRICT cuts) → Merge
          ↑                           ↑
          Bug: cuts commented out     Rejects 99.95%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Change</a:t>
            </a:r>
          </a:p>
          <a:p>
            <a:pPr lvl="0" indent="0" marL="0">
              <a:buNone/>
            </a:pPr>
            <a:r>
              <a:rPr/>
              <a:t>When switching from artificial to real protons, the quality cuts were </a:t>
            </a:r>
            <a:r>
              <a:rPr b="1"/>
              <a:t>accidentally removed</a:t>
            </a:r>
            <a:r>
              <a:rPr/>
              <a:t> from fase0, causing the massive rejection.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14: Working Points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DeepTau2017v2p1 Bit Values</a:t>
            </a:r>
          </a:p>
          <a:p>
            <a:pPr lvl="0" indent="0" marL="0">
              <a:buNone/>
            </a:pPr>
            <a:r>
              <a:rPr b="1"/>
              <a:t>VSjet (tau_id1):</a:t>
            </a:r>
            <a:r>
              <a:rPr/>
              <a:t> - 1=VVVLoose, 2=VVLoose, 4=VLoose, 8=Loose - 16=Medium, 32=Tight, </a:t>
            </a:r>
            <a:r>
              <a:rPr b="1"/>
              <a:t>64=VTight</a:t>
            </a:r>
            <a:r>
              <a:rPr/>
              <a:t> ← Your cut: &gt; 63 - 128=VVTight</a:t>
            </a:r>
          </a:p>
          <a:p>
            <a:pPr lvl="0" indent="0" marL="0">
              <a:buNone/>
            </a:pPr>
            <a:r>
              <a:rPr b="1"/>
              <a:t>VSe (tau_id2):</a:t>
            </a:r>
            <a:r>
              <a:rPr/>
              <a:t> - 1=VVVLoose, 2=VVLoose, 4=VLoose, </a:t>
            </a:r>
            <a:r>
              <a:rPr b="1"/>
              <a:t>8=Loose</a:t>
            </a:r>
            <a:r>
              <a:rPr/>
              <a:t> ← Your cut: &gt; 7 - 16=Medium, 32=Tight, 64=VTight, 128=VVTight</a:t>
            </a:r>
          </a:p>
          <a:p>
            <a:pPr lvl="0" indent="0" marL="0">
              <a:buNone/>
            </a:pPr>
            <a:r>
              <a:rPr b="1"/>
              <a:t>VSmu (tau_id3):</a:t>
            </a:r>
            <a:r>
              <a:rPr/>
              <a:t> - 1=VLoose, </a:t>
            </a:r>
            <a:r>
              <a:rPr b="1"/>
              <a:t>2=Loose</a:t>
            </a:r>
            <a:r>
              <a:rPr/>
              <a:t> ← Your cut: &gt; 1 - 4=Medium, 8=Tight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Your Current Cuts</a:t>
            </a:r>
          </a:p>
          <a:p>
            <a:pPr lvl="0"/>
            <a:r>
              <a:rPr/>
              <a:t>VSjet: VTight or better ✓ (appropriate)</a:t>
            </a:r>
          </a:p>
          <a:p>
            <a:pPr lvl="0"/>
            <a:r>
              <a:rPr/>
              <a:t>VSe: Loose or better ✓ (appropriate)</a:t>
            </a:r>
          </a:p>
          <a:p>
            <a:pPr lvl="0"/>
            <a:r>
              <a:rPr/>
              <a:t>VSmu: Loose or better ✗ (possibly too strict, or branch issue)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15: 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Immediate (Today)</a:t>
            </a:r>
          </a:p>
          <a:p>
            <a:pPr lvl="0" indent="-342900" marL="342900">
              <a:buAutoNum type="arabicPeriod"/>
            </a:pPr>
            <a:r>
              <a:rPr/>
              <a:t>✅ Run diagnostics (completed)</a:t>
            </a:r>
          </a:p>
          <a:p>
            <a:pPr lvl="0" indent="-342900" marL="342900">
              <a:buAutoNum type="arabicPeriod"/>
            </a:pPr>
            <a:r>
              <a:rPr/>
              <a:t>✅ Identify root cause (completed)</a:t>
            </a:r>
          </a:p>
          <a:p>
            <a:pPr lvl="0" indent="-342900" marL="342900">
              <a:buAutoNum type="arabicPeriod"/>
            </a:pPr>
            <a:r>
              <a:rPr/>
              <a:t>⏳ Verify VSmu branch in raw NanoAOD</a:t>
            </a:r>
          </a:p>
          <a:p>
            <a:pPr lvl="0" indent="-342900" marL="342900">
              <a:buAutoNum type="arabicPeriod"/>
            </a:pPr>
            <a:r>
              <a:rPr/>
              <a:t>⏳ Consult with advisor about cuts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Short-term (This Week)</a:t>
            </a:r>
          </a:p>
          <a:p>
            <a:pPr lvl="0" indent="-342900" marL="342900">
              <a:buAutoNum startAt="5" type="arabicPeriod"/>
            </a:pPr>
            <a:r>
              <a:rPr/>
              <a:t>⏳ Test with relaxed VSmu cut (&gt; 0 or commented out)</a:t>
            </a:r>
          </a:p>
          <a:p>
            <a:pPr lvl="0" indent="-342900" marL="342900">
              <a:buAutoNum startAt="5" type="arabicPeriod"/>
            </a:pPr>
            <a:r>
              <a:rPr/>
              <a:t>⏳ Compare with old processing scripts</a:t>
            </a:r>
          </a:p>
          <a:p>
            <a:pPr lvl="0" indent="-342900" marL="342900">
              <a:buAutoNum startAt="5" type="arabicPeriod"/>
            </a:pPr>
            <a:r>
              <a:rPr/>
              <a:t>⏳ Check TauPOG recommendations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Medium-term (When Ready)</a:t>
            </a:r>
          </a:p>
          <a:p>
            <a:pPr lvl="0" indent="-342900" marL="342900">
              <a:buAutoNum startAt="8" type="arabicPeriod"/>
            </a:pPr>
            <a:r>
              <a:rPr/>
              <a:t>⏳ Uncomment correct cuts in fase0</a:t>
            </a:r>
          </a:p>
          <a:p>
            <a:pPr lvl="0" indent="-342900" marL="342900">
              <a:buAutoNum startAt="8" type="arabicPeriod"/>
            </a:pPr>
            <a:r>
              <a:rPr/>
              <a:t>⏳ Reprocess all 393 files from fase0</a:t>
            </a:r>
          </a:p>
          <a:p>
            <a:pPr lvl="0" indent="-342900" marL="342900">
              <a:buAutoNum startAt="8" type="arabicPeriod"/>
            </a:pPr>
            <a:r>
              <a:rPr/>
              <a:t>⏳ Remove weight=2.0 from plot_m.py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Long-term (Future Analyses)</a:t>
            </a:r>
          </a:p>
          <a:p>
            <a:pPr lvl="0" indent="-342900" marL="342900">
              <a:buAutoNum startAt="11" type="arabicPeriod"/>
            </a:pPr>
            <a:r>
              <a:rPr/>
              <a:t>⏳ Consider TauTau architecture (cuts in plotting, not processing)</a:t>
            </a:r>
          </a:p>
          <a:p>
            <a:pPr lvl="0" indent="-342900" marL="342900">
              <a:buAutoNum startAt="11" type="arabicPeriod"/>
            </a:pPr>
            <a:r>
              <a:rPr/>
              <a:t>⏳ Document final selection clearly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16: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We Learned</a:t>
            </a:r>
          </a:p>
          <a:p>
            <a:pPr lvl="0" indent="-342900" marL="342900">
              <a:buAutoNum type="arabicPeriod"/>
            </a:pPr>
            <a:r>
              <a:rPr b="1"/>
              <a:t>The “factor of 2” was a red herring</a:t>
            </a:r>
          </a:p>
          <a:p>
            <a:pPr lvl="1"/>
            <a:r>
              <a:rPr/>
              <a:t>Real issue: 99.95% event rejection</a:t>
            </a:r>
          </a:p>
          <a:p>
            <a:pPr lvl="1"/>
            <a:r>
              <a:rPr/>
              <a:t>Not a simple normalization problem</a:t>
            </a:r>
          </a:p>
          <a:p>
            <a:pPr lvl="0" indent="-342900" marL="342900">
              <a:buAutoNum type="arabicPeriod"/>
            </a:pPr>
            <a:r>
              <a:rPr b="1"/>
              <a:t>Fase0 has a critical bug</a:t>
            </a:r>
          </a:p>
          <a:p>
            <a:pPr lvl="1"/>
            <a:r>
              <a:rPr/>
              <a:t>All quality cuts commented out</a:t>
            </a:r>
          </a:p>
          <a:p>
            <a:pPr lvl="1"/>
            <a:r>
              <a:rPr/>
              <a:t>Saves low-quality taus that fail later</a:t>
            </a:r>
          </a:p>
          <a:p>
            <a:pPr lvl="0" indent="-342900" marL="342900">
              <a:buAutoNum type="arabicPeriod"/>
            </a:pPr>
            <a:r>
              <a:rPr b="1"/>
              <a:t>VSmu is the bottleneck</a:t>
            </a:r>
          </a:p>
          <a:p>
            <a:pPr lvl="1"/>
            <a:r>
              <a:rPr/>
              <a:t>Only 2.2% of taus pass VSmu &gt; 1</a:t>
            </a:r>
          </a:p>
          <a:p>
            <a:pPr lvl="1"/>
            <a:r>
              <a:rPr/>
              <a:t>Only 3.09% have ANY VSmu score</a:t>
            </a:r>
          </a:p>
          <a:p>
            <a:pPr lvl="1"/>
            <a:r>
              <a:rPr/>
              <a:t>Suggests branch issue or wrong working point</a:t>
            </a:r>
          </a:p>
          <a:p>
            <a:pPr lvl="0" indent="-342900" marL="342900">
              <a:buAutoNum type="arabicPeriod"/>
            </a:pPr>
            <a:r>
              <a:rPr b="1"/>
              <a:t>weight=2.0 was masking the problem</a:t>
            </a:r>
          </a:p>
          <a:p>
            <a:pPr lvl="1"/>
            <a:r>
              <a:rPr/>
              <a:t>Compensated for symptoms, not cause</a:t>
            </a:r>
          </a:p>
          <a:p>
            <a:pPr lvl="1"/>
            <a:r>
              <a:rPr/>
              <a:t>Should be removed after proper fix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Bottom Line</a:t>
            </a:r>
          </a:p>
          <a:p>
            <a:pPr lvl="0" indent="0" marL="0">
              <a:buNone/>
            </a:pPr>
            <a:r>
              <a:rPr b="1"/>
              <a:t>Reprocess from fase0 with proper cuts, and event counts should be correct without artificial weights.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17: Documents Created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Analysis Documents</a:t>
            </a:r>
          </a:p>
          <a:p>
            <a:pPr lvl="0" indent="-342900" marL="342900">
              <a:buAutoNum type="arabicPeriod"/>
            </a:pPr>
            <a:r>
              <a:rPr b="1"/>
              <a:t>FACTOR_OF_2_ROOT_CAUSE.md</a:t>
            </a:r>
          </a:p>
          <a:p>
            <a:pPr lvl="1"/>
            <a:r>
              <a:rPr/>
              <a:t>Complete root cause analysis</a:t>
            </a:r>
          </a:p>
          <a:p>
            <a:pPr lvl="1"/>
            <a:r>
              <a:rPr/>
              <a:t>5 hypotheses investigated</a:t>
            </a:r>
          </a:p>
          <a:p>
            <a:pPr lvl="1"/>
            <a:r>
              <a:rPr/>
              <a:t>Comparison with TauTau channel</a:t>
            </a:r>
          </a:p>
          <a:p>
            <a:pPr lvl="0" indent="-342900" marL="342900">
              <a:buAutoNum type="arabicPeriod"/>
            </a:pPr>
            <a:r>
              <a:rPr b="1"/>
              <a:t>ANALYSIS_TAU_ID_ISSUE.md</a:t>
            </a:r>
          </a:p>
          <a:p>
            <a:pPr lvl="1"/>
            <a:r>
              <a:rPr/>
              <a:t>Detailed tau ID analysis</a:t>
            </a:r>
          </a:p>
          <a:p>
            <a:pPr lvl="1"/>
            <a:r>
              <a:rPr/>
              <a:t>Working points reference</a:t>
            </a:r>
          </a:p>
          <a:p>
            <a:pPr lvl="1"/>
            <a:r>
              <a:rPr/>
              <a:t>Decision matrix for fixes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Diagnostic Scripts</a:t>
            </a:r>
          </a:p>
          <a:p>
            <a:pPr lvl="0" indent="-342900" marL="342900">
              <a:buAutoNum startAt="3" type="arabicPeriod"/>
            </a:pPr>
            <a:r>
              <a:rPr b="1"/>
              <a:t>investigate_factor_of_2.py</a:t>
            </a:r>
          </a:p>
          <a:p>
            <a:pPr lvl="1"/>
            <a:r>
              <a:rPr/>
              <a:t>Sequential cut analysis</a:t>
            </a:r>
          </a:p>
          <a:p>
            <a:pPr lvl="1"/>
            <a:r>
              <a:rPr/>
              <a:t>Revealed 99.95% rejection</a:t>
            </a:r>
          </a:p>
          <a:p>
            <a:pPr lvl="0" indent="-342900" marL="342900">
              <a:buAutoNum startAt="3" type="arabicPeriod"/>
            </a:pPr>
            <a:r>
              <a:rPr b="1"/>
              <a:t>check_tau_id_distribution.py</a:t>
            </a:r>
          </a:p>
          <a:p>
            <a:pPr lvl="1"/>
            <a:r>
              <a:rPr/>
              <a:t>Tau ID distributions</a:t>
            </a:r>
          </a:p>
          <a:p>
            <a:pPr lvl="1"/>
            <a:r>
              <a:rPr/>
              <a:t>Identified VSmu bottleneck</a:t>
            </a:r>
          </a:p>
          <a:p>
            <a:pPr lvl="0" indent="0" marL="0">
              <a:buNone/>
            </a:pPr>
            <a:r>
              <a:rPr/>
              <a:t>All ready to use for further investigation!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18: Questions to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Reprocessing</a:t>
            </a:r>
          </a:p>
          <a:p>
            <a:pPr lvl="0" indent="-342900" marL="342900">
              <a:buAutoNum type="arabicPeriod"/>
            </a:pPr>
            <a:r>
              <a:rPr b="1"/>
              <a:t>What VSmu values exist in raw NanoAOD?</a:t>
            </a:r>
          </a:p>
          <a:p>
            <a:pPr lvl="1"/>
            <a:r>
              <a:rPr/>
              <a:t>Are they mostly 0?</a:t>
            </a:r>
          </a:p>
          <a:p>
            <a:pPr lvl="1"/>
            <a:r>
              <a:rPr/>
              <a:t>Is the branch filled correctly?</a:t>
            </a:r>
          </a:p>
          <a:p>
            <a:pPr lvl="0" indent="-342900" marL="342900">
              <a:buAutoNum type="arabicPeriod"/>
            </a:pPr>
            <a:r>
              <a:rPr b="1"/>
              <a:t>What cuts did old processing use?</a:t>
            </a:r>
          </a:p>
          <a:p>
            <a:pPr lvl="1"/>
            <a:r>
              <a:rPr/>
              <a:t>Same VSmu &gt; 1?</a:t>
            </a:r>
          </a:p>
          <a:p>
            <a:pPr lvl="1"/>
            <a:r>
              <a:rPr/>
              <a:t>Or looser / no VSmu cut?</a:t>
            </a:r>
          </a:p>
          <a:p>
            <a:pPr lvl="0" indent="-342900" marL="342900">
              <a:buAutoNum type="arabicPeriod"/>
            </a:pPr>
            <a:r>
              <a:rPr b="1"/>
              <a:t>Why were fase0 cuts commented out?</a:t>
            </a:r>
          </a:p>
          <a:p>
            <a:pPr lvl="1"/>
            <a:r>
              <a:rPr/>
              <a:t>Intentional flexibility?</a:t>
            </a:r>
          </a:p>
          <a:p>
            <a:pPr lvl="1"/>
            <a:r>
              <a:rPr/>
              <a:t>Or accidental during development?</a:t>
            </a:r>
          </a:p>
          <a:p>
            <a:pPr lvl="0" indent="-342900" marL="342900">
              <a:buAutoNum type="arabicPeriod"/>
            </a:pPr>
            <a:r>
              <a:rPr b="1"/>
              <a:t>What do TauPOG recommend?</a:t>
            </a:r>
          </a:p>
          <a:p>
            <a:pPr lvl="1"/>
            <a:r>
              <a:rPr/>
              <a:t>For 2018 UL MuTau channel</a:t>
            </a:r>
          </a:p>
          <a:p>
            <a:pPr lvl="1"/>
            <a:r>
              <a:rPr/>
              <a:t>VSmu working point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After Testing</a:t>
            </a:r>
          </a:p>
          <a:p>
            <a:pPr lvl="0" indent="-342900" marL="342900">
              <a:buAutoNum startAt="5" type="arabicPeriod"/>
            </a:pPr>
            <a:r>
              <a:rPr b="1"/>
              <a:t>Does relaxing VSmu help?</a:t>
            </a:r>
          </a:p>
          <a:p>
            <a:pPr lvl="1"/>
            <a:r>
              <a:rPr/>
              <a:t>Try VSmu &gt; 0 instead of &gt; 1</a:t>
            </a:r>
          </a:p>
          <a:p>
            <a:pPr lvl="1"/>
            <a:r>
              <a:rPr/>
              <a:t>Or remove entirely</a:t>
            </a:r>
          </a:p>
          <a:p>
            <a:pPr lvl="0" indent="-342900" marL="342900">
              <a:buAutoNum startAt="5" type="arabicPeriod"/>
            </a:pPr>
            <a:r>
              <a:rPr b="1"/>
              <a:t>How many events do we expect?</a:t>
            </a:r>
          </a:p>
          <a:p>
            <a:pPr lvl="1"/>
            <a:r>
              <a:rPr/>
              <a:t>With proper cuts</a:t>
            </a:r>
          </a:p>
          <a:p>
            <a:pPr lvl="1"/>
            <a:r>
              <a:rPr/>
              <a:t>Realistic physics estimate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19: Expected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Phase 1: Verification (1-2 days)</a:t>
            </a:r>
          </a:p>
          <a:p>
            <a:pPr lvl="0"/>
            <a:r>
              <a:rPr/>
              <a:t>Check VSmu in NanoAOD</a:t>
            </a:r>
          </a:p>
          <a:p>
            <a:pPr lvl="0"/>
            <a:r>
              <a:rPr/>
              <a:t>Test relaxed cuts</a:t>
            </a:r>
          </a:p>
          <a:p>
            <a:pPr lvl="0"/>
            <a:r>
              <a:rPr/>
              <a:t>Consult advisor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Phase 2: Decision (1 day)</a:t>
            </a:r>
          </a:p>
          <a:p>
            <a:pPr lvl="0"/>
            <a:r>
              <a:rPr/>
              <a:t>Determine correct working points</a:t>
            </a:r>
          </a:p>
          <a:p>
            <a:pPr lvl="0"/>
            <a:r>
              <a:rPr/>
              <a:t>Plan reprocessing strategy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Phase 3: Reprocessing (1-2 weeks)</a:t>
            </a:r>
          </a:p>
          <a:p>
            <a:pPr lvl="0"/>
            <a:r>
              <a:rPr/>
              <a:t>Uncomment cuts in fase0</a:t>
            </a:r>
          </a:p>
          <a:p>
            <a:pPr lvl="0"/>
            <a:r>
              <a:rPr/>
              <a:t>Reprocess 393 files</a:t>
            </a:r>
          </a:p>
          <a:p>
            <a:pPr lvl="0"/>
            <a:r>
              <a:rPr/>
              <a:t>Run fase1 on new output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Phase 4: Validation (1-2 days)</a:t>
            </a:r>
          </a:p>
          <a:p>
            <a:pPr lvl="0"/>
            <a:r>
              <a:rPr/>
              <a:t>Check event counts</a:t>
            </a:r>
          </a:p>
          <a:p>
            <a:pPr lvl="0"/>
            <a:r>
              <a:rPr/>
              <a:t>Remove weight=2.0</a:t>
            </a:r>
          </a:p>
          <a:p>
            <a:pPr lvl="0"/>
            <a:r>
              <a:rPr/>
              <a:t>Verify physics distributions</a:t>
            </a:r>
          </a:p>
          <a:p>
            <a:pPr lvl="0"/>
            <a:r>
              <a:rPr/>
              <a:t>Update plots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Total: ~2-3 weeks</a:t>
            </a:r>
          </a:p>
          <a:p>
            <a:pPr lvl="0" indent="0" marL="0">
              <a:buNone/>
            </a:pPr>
            <a:r>
              <a:rPr/>
              <a:t>(Assuming no unexpected issues)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20: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Journey</a:t>
            </a:r>
          </a:p>
          <a:p>
            <a:pPr lvl="0" indent="0" marL="0">
              <a:buNone/>
            </a:pPr>
            <a:r>
              <a:rPr b="1"/>
              <a:t>Started with:</a:t>
            </a:r>
            <a:r>
              <a:rPr/>
              <a:t> “Why is everything at 50%?”</a:t>
            </a:r>
          </a:p>
          <a:p>
            <a:pPr lvl="0" indent="0" marL="0">
              <a:buNone/>
            </a:pPr>
            <a:r>
              <a:rPr b="1"/>
              <a:t>Discovered:</a:t>
            </a:r>
            <a:r>
              <a:rPr/>
              <a:t> - Fase0 has no quality cuts (bug) - 99.95% rejection at tau ID - VSmu only 2.2% acceptance (mystery)</a:t>
            </a:r>
          </a:p>
          <a:p>
            <a:pPr lvl="0" indent="0" marL="0">
              <a:buNone/>
            </a:pPr>
            <a:r>
              <a:rPr b="1"/>
              <a:t>Root Causes:</a:t>
            </a:r>
            <a:r>
              <a:rPr/>
              <a:t> 1. Commented-out cuts in fase0 2. VSmu branch issue or wrong working point 3. weight=2.0 compensating for wrong problem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Solution</a:t>
            </a:r>
          </a:p>
          <a:p>
            <a:pPr lvl="0" indent="-342900" marL="342900">
              <a:buAutoNum type="arabicPeriod"/>
            </a:pPr>
            <a:r>
              <a:rPr/>
              <a:t>Fix fase0 cuts</a:t>
            </a:r>
          </a:p>
          <a:p>
            <a:pPr lvl="0" indent="-342900" marL="342900">
              <a:buAutoNum type="arabicPeriod"/>
            </a:pPr>
            <a:r>
              <a:rPr/>
              <a:t>Verify VSmu working point</a:t>
            </a:r>
          </a:p>
          <a:p>
            <a:pPr lvl="0" indent="-342900" marL="342900">
              <a:buAutoNum type="arabicPeriod"/>
            </a:pPr>
            <a:r>
              <a:rPr/>
              <a:t>Reprocess</a:t>
            </a:r>
          </a:p>
          <a:p>
            <a:pPr lvl="0" indent="-342900" marL="342900">
              <a:buAutoNum type="arabicPeriod"/>
            </a:pPr>
            <a:r>
              <a:rPr/>
              <a:t>Remove artificial weights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Lesson</a:t>
            </a:r>
          </a:p>
          <a:p>
            <a:pPr lvl="0" indent="0" marL="0">
              <a:buNone/>
            </a:pPr>
            <a:r>
              <a:rPr b="1"/>
              <a:t>Always trace the full processing chain when debugging!</a:t>
            </a:r>
          </a:p>
          <a:p>
            <a:pPr lvl="0" indent="0" marL="0">
              <a:buNone/>
            </a:pPr>
            <a:r>
              <a:rPr/>
              <a:t>The apparent “factor of 2” was hiding a much larger issue that could only be found by checking each step sequentially.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 of Presentation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Contact /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diagnostic scripts and analysis documents are in: </a:t>
            </a:r>
            <a:r>
              <a:rPr>
                <a:latin typeface="Courier"/>
              </a:rPr>
              <a:t>/Users/utilizador/cernbox/tau_analysis/MuTau_channel/</a:t>
            </a:r>
          </a:p>
          <a:p>
            <a:pPr lvl="0" indent="0" marL="0">
              <a:buNone/>
            </a:pPr>
            <a:r>
              <a:rPr/>
              <a:t>For questions, consult: - Your advisor - TauPOG contacts - CMS TWiki: https://twiki.cern.ch/twiki/bin/view/CMS/TauIDRecommendationForRun2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2025-11-18T23:52:38Z</dcterms:created>
  <dcterms:modified xsi:type="dcterms:W3CDTF">2025-11-18T23:52:38Z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